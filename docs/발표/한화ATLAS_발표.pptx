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D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9A52"/>
                </a:solidFill>
                <a:latin typeface="Malgun Gothic"/>
                <a:ea typeface="Malgun Gothic"/>
              </a:rPr>
              <a:t>한화손해보험 운용본부  ·  AI 주식 운용 데스크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424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800" b="1">
                <a:solidFill>
                  <a:srgbClr val="F3E7DA"/>
                </a:solidFill>
                <a:latin typeface="Malgun Gothic"/>
                <a:ea typeface="Malgun Gothic"/>
              </a:rPr>
              <a:t>한화 </a:t>
            </a:r>
            <a:r>
              <a:rPr sz="8800" b="1">
                <a:solidFill>
                  <a:srgbClr val="F37321"/>
                </a:solidFill>
                <a:latin typeface="Malgun Gothic"/>
                <a:ea typeface="Malgun Gothic"/>
              </a:rPr>
              <a:t>ATLAS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F3E7DA"/>
                </a:solidFill>
                <a:latin typeface="Malgun Gothic"/>
                <a:ea typeface="Malgun Gothic"/>
              </a:rPr>
              <a:t>운용역의 하루를 함께 도는 </a:t>
            </a: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AI 멀티에이전트 운용 데스크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C9B6A4"/>
                </a:solidFill>
                <a:latin typeface="Malgun Gothic"/>
                <a:ea typeface="Malgun Gothic"/>
              </a:rPr>
              <a:t>시황 브리핑 · AI 투자위원회 · 아이디어랩 · 시장 대시보드를 하나의 OS로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074920"/>
            <a:ext cx="6766560" cy="658368"/>
          </a:xfrm>
          <a:prstGeom prst="rect">
            <a:avLst/>
          </a:prstGeom>
          <a:solidFill>
            <a:srgbClr val="1C120D"/>
          </a:solidFill>
          <a:ln w="15875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5138928"/>
            <a:ext cx="6400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37321"/>
                </a:solidFill>
                <a:latin typeface="Malgun Gothic"/>
                <a:ea typeface="Malgun Gothic"/>
              </a:rPr>
              <a:t>LIVE  </a:t>
            </a:r>
            <a:r>
              <a:rPr sz="1500" b="0">
                <a:solidFill>
                  <a:srgbClr val="F3E7DA"/>
                </a:solidFill>
                <a:latin typeface="Malgun Gothic"/>
                <a:ea typeface="Malgun Gothic"/>
              </a:rPr>
              <a:t>hanwha-atlas-production.up.railway.app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89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9B6A4"/>
                </a:solidFill>
                <a:latin typeface="Malgun Gothic"/>
                <a:ea typeface="Malgun Gothic"/>
              </a:rPr>
              <a:t>바이브코딩 경진대회 (주식운용 아이디어)   |   발표자: ____________   | 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37321"/>
                </a:solidFill>
                <a:latin typeface="Malgun Gothic"/>
                <a:ea typeface="Malgun Gothic"/>
              </a:rPr>
              <a:t>한화 ATLAS</a:t>
            </a:r>
            <a:r>
              <a:rPr sz="1100" b="0">
                <a:solidFill>
                  <a:srgbClr val="C9B6A4"/>
                </a:solidFill>
                <a:latin typeface="Malgun Gothic"/>
                <a:ea typeface="Malgun Gothic"/>
              </a:rPr>
              <a:t>  ·  AI Investment Desk 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3550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9B6A4"/>
                </a:solidFill>
                <a:latin typeface="Malgun Gothic"/>
                <a:ea typeface="Malgun Gothic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2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37321"/>
                </a:solidFill>
                <a:latin typeface="Malgun Gothic"/>
                <a:ea typeface="Malgun Gothic"/>
              </a:rPr>
              <a:t>PROBLEM</a:t>
            </a:r>
            <a:r>
              <a:rPr sz="1500" b="1">
                <a:solidFill>
                  <a:srgbClr val="C9B6A4"/>
                </a:solidFill>
                <a:latin typeface="Malgun Gothic"/>
                <a:ea typeface="Malgun Gothic"/>
              </a:rPr>
              <a:t>   운용역의 하루는 ‘정보 전쟁’입니다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F3E7DA"/>
                </a:solidFill>
                <a:latin typeface="Malgun Gothic"/>
                <a:ea typeface="Malgun Gothic"/>
              </a:rPr>
              <a:t>쏟아지는 정보, </a:t>
            </a:r>
            <a:r>
              <a:rPr sz="4600" b="1">
                <a:solidFill>
                  <a:srgbClr val="F37321"/>
                </a:solidFill>
                <a:latin typeface="Malgun Gothic"/>
                <a:ea typeface="Malgun Gothic"/>
              </a:rPr>
              <a:t>소화할 시간은 없다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063240"/>
            <a:ext cx="3429000" cy="2148840"/>
          </a:xfrm>
          <a:prstGeom prst="rect">
            <a:avLst/>
          </a:prstGeom>
          <a:solidFill>
            <a:srgbClr val="4A3326"/>
          </a:solidFill>
          <a:ln w="9525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3063240"/>
            <a:ext cx="3429000" cy="9144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429000"/>
            <a:ext cx="2971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FF9A52"/>
                </a:solidFill>
                <a:latin typeface="Malgun Gothic"/>
                <a:ea typeface="Malgun Gothic"/>
              </a:rPr>
              <a:t>간밤 미국장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F3E7DA"/>
                </a:solidFill>
                <a:latin typeface="Malgun Gothic"/>
                <a:ea typeface="Malgun Gothic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3E7DA"/>
                </a:solidFill>
                <a:latin typeface="Malgun Gothic"/>
                <a:ea typeface="Malgun Gothic"/>
              </a:rPr>
              <a:t>S&amp;P·나스닥·반도체·환율·금리를 일일이 확인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5112" y="3063240"/>
            <a:ext cx="3429000" cy="2148840"/>
          </a:xfrm>
          <a:prstGeom prst="rect">
            <a:avLst/>
          </a:prstGeom>
          <a:solidFill>
            <a:srgbClr val="4A3326"/>
          </a:solidFill>
          <a:ln w="9525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5112" y="3063240"/>
            <a:ext cx="3429000" cy="9144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1144" y="3429000"/>
            <a:ext cx="2971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FF9A52"/>
                </a:solidFill>
                <a:latin typeface="Malgun Gothic"/>
                <a:ea typeface="Malgun Gothic"/>
              </a:rPr>
              <a:t>매크로 이벤트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F3E7DA"/>
                </a:solidFill>
                <a:latin typeface="Malgun Gothic"/>
                <a:ea typeface="Malgun Gothic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3E7DA"/>
                </a:solidFill>
                <a:latin typeface="Malgun Gothic"/>
                <a:ea typeface="Malgun Gothic"/>
              </a:rPr>
              <a:t>CPI·FOMC·실적·지정학…쉴 새 없는 헤드라인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72984" y="3063240"/>
            <a:ext cx="3429000" cy="2148840"/>
          </a:xfrm>
          <a:prstGeom prst="rect">
            <a:avLst/>
          </a:prstGeom>
          <a:solidFill>
            <a:srgbClr val="4A3326"/>
          </a:solidFill>
          <a:ln w="9525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72984" y="3063240"/>
            <a:ext cx="3429000" cy="9144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9016" y="3429000"/>
            <a:ext cx="2971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FF9A52"/>
                </a:solidFill>
                <a:latin typeface="Malgun Gothic"/>
                <a:ea typeface="Malgun Gothic"/>
              </a:rPr>
              <a:t>국내장 개장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F3E7DA"/>
                </a:solidFill>
                <a:latin typeface="Malgun Gothic"/>
                <a:ea typeface="Malgun Gothic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3E7DA"/>
                </a:solidFill>
                <a:latin typeface="Malgun Gothic"/>
                <a:ea typeface="Malgun Gothic"/>
              </a:rPr>
              <a:t>장 열리기 전에 ‘오늘의 그림’을 다 그려야 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5778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C9B6A4"/>
                </a:solidFill>
                <a:latin typeface="Malgun Gothic"/>
                <a:ea typeface="Malgun Gothic"/>
              </a:rPr>
              <a:t>→ 정보는 넘치는데, </a:t>
            </a: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판단으로 바꿀 시간이 부족하다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37321"/>
                </a:solidFill>
                <a:latin typeface="Malgun Gothic"/>
                <a:ea typeface="Malgun Gothic"/>
              </a:rPr>
              <a:t>한화 ATLAS</a:t>
            </a:r>
            <a:r>
              <a:rPr sz="1100" b="0">
                <a:solidFill>
                  <a:srgbClr val="C9B6A4"/>
                </a:solidFill>
                <a:latin typeface="Malgun Gothic"/>
                <a:ea typeface="Malgun Gothic"/>
              </a:rPr>
              <a:t>  ·  AI Investment Desk 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3550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9B6A4"/>
                </a:solidFill>
                <a:latin typeface="Malgun Gothic"/>
                <a:ea typeface="Malgun Gothic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D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37321"/>
                </a:solidFill>
                <a:latin typeface="Malgun Gothic"/>
                <a:ea typeface="Malgun Gothic"/>
              </a:rPr>
              <a:t>PROBLEM</a:t>
            </a:r>
            <a:r>
              <a:rPr sz="1500" b="1">
                <a:solidFill>
                  <a:srgbClr val="C9B6A4"/>
                </a:solidFill>
                <a:latin typeface="Malgun Gothic"/>
                <a:ea typeface="Malgun Gothic"/>
              </a:rPr>
              <a:t>   매일, 하루 세 번, 손으로 다시 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F3E7DA"/>
                </a:solidFill>
                <a:latin typeface="Malgun Gothic"/>
                <a:ea typeface="Malgun Gothic"/>
              </a:rPr>
              <a:t>장전·장중·마감마다 </a:t>
            </a:r>
            <a:r>
              <a:rPr sz="4400" b="1">
                <a:solidFill>
                  <a:srgbClr val="F37321"/>
                </a:solidFill>
                <a:latin typeface="Malgun Gothic"/>
                <a:ea typeface="Malgun Gothic"/>
              </a:rPr>
              <a:t>반복되는 수작업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017520"/>
            <a:ext cx="3474720" cy="2194560"/>
          </a:xfrm>
          <a:prstGeom prst="rect">
            <a:avLst/>
          </a:prstGeom>
          <a:solidFill>
            <a:srgbClr val="1C120D"/>
          </a:solidFill>
          <a:ln w="12700">
            <a:solidFill>
              <a:srgbClr val="4A3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3272" y="3273552"/>
            <a:ext cx="1051560" cy="54864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91840"/>
            <a:ext cx="1051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C120D"/>
                </a:solidFill>
                <a:latin typeface="Malgun Gothic"/>
                <a:ea typeface="Malgun Gothic"/>
              </a:rPr>
              <a:t>장전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3328416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9A52"/>
                </a:solidFill>
                <a:latin typeface="Malgun Gothic"/>
                <a:ea typeface="Malgun Gothic"/>
              </a:rPr>
              <a:t>07–08시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069080"/>
            <a:ext cx="2971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3E7DA"/>
                </a:solidFill>
                <a:latin typeface="Malgun Gothic"/>
                <a:ea typeface="Malgun Gothic"/>
              </a:rPr>
              <a:t>간밤 글로벌 → 오늘 전략을 직접 정리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8264" y="3017520"/>
            <a:ext cx="3474720" cy="2194560"/>
          </a:xfrm>
          <a:prstGeom prst="rect">
            <a:avLst/>
          </a:prstGeom>
          <a:solidFill>
            <a:srgbClr val="1C120D"/>
          </a:solidFill>
          <a:ln w="12700">
            <a:solidFill>
              <a:srgbClr val="4A3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54296" y="3273552"/>
            <a:ext cx="1051560" cy="54864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4296" y="3291840"/>
            <a:ext cx="1051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C120D"/>
                </a:solidFill>
                <a:latin typeface="Malgun Gothic"/>
                <a:ea typeface="Malgun Gothic"/>
              </a:rPr>
              <a:t>장중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1304" y="3328416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9A52"/>
                </a:solidFill>
                <a:latin typeface="Malgun Gothic"/>
                <a:ea typeface="Malgun Gothic"/>
              </a:rPr>
              <a:t>장중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4069080"/>
            <a:ext cx="2971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3E7DA"/>
                </a:solidFill>
                <a:latin typeface="Malgun Gothic"/>
                <a:ea typeface="Malgun Gothic"/>
              </a:rPr>
              <a:t>급변 이벤트마다 메모를 다시 손질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9288" y="3017520"/>
            <a:ext cx="3474720" cy="2194560"/>
          </a:xfrm>
          <a:prstGeom prst="rect">
            <a:avLst/>
          </a:prstGeom>
          <a:solidFill>
            <a:srgbClr val="1C120D"/>
          </a:solidFill>
          <a:ln w="12700">
            <a:solidFill>
              <a:srgbClr val="4A3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20" y="3273552"/>
            <a:ext cx="1051560" cy="54864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3291840"/>
            <a:ext cx="1051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C120D"/>
                </a:solidFill>
                <a:latin typeface="Malgun Gothic"/>
                <a:ea typeface="Malgun Gothic"/>
              </a:rPr>
              <a:t>마감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3328416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9A52"/>
                </a:solidFill>
                <a:latin typeface="Malgun Gothic"/>
                <a:ea typeface="Malgun Gothic"/>
              </a:rPr>
              <a:t>15:30+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4069080"/>
            <a:ext cx="2971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3E7DA"/>
                </a:solidFill>
                <a:latin typeface="Malgun Gothic"/>
                <a:ea typeface="Malgun Gothic"/>
              </a:rPr>
              <a:t>하루를 복기하고 리포트로 또 정리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5778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C9B6A4"/>
                </a:solidFill>
                <a:latin typeface="Malgun Gothic"/>
                <a:ea typeface="Malgun Gothic"/>
              </a:rPr>
              <a:t>→ 가치 있는 건 </a:t>
            </a:r>
            <a:r>
              <a:rPr sz="1800" b="1">
                <a:solidFill>
                  <a:srgbClr val="F37321"/>
                </a:solidFill>
                <a:latin typeface="Malgun Gothic"/>
                <a:ea typeface="Malgun Gothic"/>
              </a:rPr>
              <a:t>판단</a:t>
            </a:r>
            <a:r>
              <a:rPr sz="1800" b="0">
                <a:solidFill>
                  <a:srgbClr val="C9B6A4"/>
                </a:solidFill>
                <a:latin typeface="Malgun Gothic"/>
                <a:ea typeface="Malgun Gothic"/>
              </a:rPr>
              <a:t>인데, 시간은 </a:t>
            </a: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정리</a:t>
            </a:r>
            <a:r>
              <a:rPr sz="1800" b="0">
                <a:solidFill>
                  <a:srgbClr val="C9B6A4"/>
                </a:solidFill>
                <a:latin typeface="Malgun Gothic"/>
                <a:ea typeface="Malgun Gothic"/>
              </a:rPr>
              <a:t>에 쓰인다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37321"/>
                </a:solidFill>
                <a:latin typeface="Malgun Gothic"/>
                <a:ea typeface="Malgun Gothic"/>
              </a:rPr>
              <a:t>한화 ATLAS</a:t>
            </a:r>
            <a:r>
              <a:rPr sz="1100" b="0">
                <a:solidFill>
                  <a:srgbClr val="C9B6A4"/>
                </a:solidFill>
                <a:latin typeface="Malgun Gothic"/>
                <a:ea typeface="Malgun Gothic"/>
              </a:rPr>
              <a:t>  ·  AI Investment Desk 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3550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9B6A4"/>
                </a:solidFill>
                <a:latin typeface="Malgun Gothic"/>
                <a:ea typeface="Malgun Gothic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2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37321"/>
                </a:solidFill>
                <a:latin typeface="Malgun Gothic"/>
                <a:ea typeface="Malgun Gothic"/>
              </a:rPr>
              <a:t>PROBLEM</a:t>
            </a:r>
            <a:r>
              <a:rPr sz="1500" b="1">
                <a:solidFill>
                  <a:srgbClr val="C9B6A4"/>
                </a:solidFill>
                <a:latin typeface="Malgun Gothic"/>
                <a:ea typeface="Malgun Gothic"/>
              </a:rPr>
              <a:t>   ‘왜 샀나’를 매번 새로 설명해야 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F3E7DA"/>
                </a:solidFill>
                <a:latin typeface="Malgun Gothic"/>
                <a:ea typeface="Malgun Gothic"/>
              </a:rPr>
              <a:t>근거는 흩어지고, </a:t>
            </a:r>
            <a:r>
              <a:rPr sz="4400" b="1">
                <a:solidFill>
                  <a:srgbClr val="F37321"/>
                </a:solidFill>
                <a:latin typeface="Malgun Gothic"/>
                <a:ea typeface="Malgun Gothic"/>
              </a:rPr>
              <a:t>발굴은 막막하다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971800"/>
            <a:ext cx="5257800" cy="2606040"/>
          </a:xfrm>
          <a:prstGeom prst="rect">
            <a:avLst/>
          </a:prstGeom>
          <a:solidFill>
            <a:srgbClr val="4A3326"/>
          </a:solidFill>
          <a:ln w="9525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971800"/>
            <a:ext cx="91440" cy="260604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264408"/>
            <a:ext cx="4617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FF9A52"/>
                </a:solidFill>
                <a:latin typeface="Malgun Gothic"/>
                <a:ea typeface="Malgun Gothic"/>
              </a:rPr>
              <a:t>종목 의사결정의 근거 부족·일관성 결여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4160520"/>
            <a:ext cx="4617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F37321"/>
                </a:solidFill>
                <a:latin typeface="Malgun Gothic"/>
                <a:ea typeface="Malgun Gothic"/>
              </a:rPr>
              <a:t>•  </a:t>
            </a:r>
            <a:r>
              <a:rPr sz="1600" b="0">
                <a:solidFill>
                  <a:srgbClr val="F3E7DA"/>
                </a:solidFill>
                <a:latin typeface="Malgun Gothic"/>
                <a:ea typeface="Malgun Gothic"/>
              </a:rPr>
              <a:t>기술·재무·뉴스·심리가 머릿속에만 흩어져 있다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F37321"/>
                </a:solidFill>
                <a:latin typeface="Malgun Gothic"/>
                <a:ea typeface="Malgun Gothic"/>
              </a:rPr>
              <a:t>•  </a:t>
            </a:r>
            <a:r>
              <a:rPr sz="1600" b="0">
                <a:solidFill>
                  <a:srgbClr val="F3E7DA"/>
                </a:solidFill>
                <a:latin typeface="Malgun Gothic"/>
                <a:ea typeface="Malgun Gothic"/>
              </a:rPr>
              <a:t>사람마다, 날마다 판단 기준이 달라진다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F37321"/>
                </a:solidFill>
                <a:latin typeface="Malgun Gothic"/>
                <a:ea typeface="Malgun Gothic"/>
              </a:rPr>
              <a:t>•  </a:t>
            </a:r>
            <a:r>
              <a:rPr sz="1600" b="0">
                <a:solidFill>
                  <a:srgbClr val="F3E7DA"/>
                </a:solidFill>
                <a:latin typeface="Malgun Gothic"/>
                <a:ea typeface="Malgun Gothic"/>
              </a:rPr>
              <a:t>‘왜 BUY/SELL인가’를 기록·재현하기 어렵다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971800"/>
            <a:ext cx="5257800" cy="2606040"/>
          </a:xfrm>
          <a:prstGeom prst="rect">
            <a:avLst/>
          </a:prstGeom>
          <a:solidFill>
            <a:srgbClr val="4A3326"/>
          </a:solidFill>
          <a:ln w="9525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2971800"/>
            <a:ext cx="91440" cy="260604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3264408"/>
            <a:ext cx="4617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FF9A52"/>
                </a:solidFill>
                <a:latin typeface="Malgun Gothic"/>
                <a:ea typeface="Malgun Gothic"/>
              </a:rPr>
              <a:t>섹터 발굴의 막막함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3408" y="4160520"/>
            <a:ext cx="4617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F37321"/>
                </a:solidFill>
                <a:latin typeface="Malgun Gothic"/>
                <a:ea typeface="Malgun Gothic"/>
              </a:rPr>
              <a:t>•  </a:t>
            </a:r>
            <a:r>
              <a:rPr sz="1600" b="0">
                <a:solidFill>
                  <a:srgbClr val="F3E7DA"/>
                </a:solidFill>
                <a:latin typeface="Malgun Gothic"/>
                <a:ea typeface="Malgun Gothic"/>
              </a:rPr>
              <a:t>“반도체 말고 지금 뭐가 좋지?”에 답이 없다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F37321"/>
                </a:solidFill>
                <a:latin typeface="Malgun Gothic"/>
                <a:ea typeface="Malgun Gothic"/>
              </a:rPr>
              <a:t>•  </a:t>
            </a:r>
            <a:r>
              <a:rPr sz="1600" b="0">
                <a:solidFill>
                  <a:srgbClr val="F3E7DA"/>
                </a:solidFill>
                <a:latin typeface="Malgun Gothic"/>
                <a:ea typeface="Malgun Gothic"/>
              </a:rPr>
              <a:t>뉴스플로우·거시·수급을 한 번에 못 본다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F37321"/>
                </a:solidFill>
                <a:latin typeface="Malgun Gothic"/>
                <a:ea typeface="Malgun Gothic"/>
              </a:rPr>
              <a:t>•  </a:t>
            </a:r>
            <a:r>
              <a:rPr sz="1600" b="0">
                <a:solidFill>
                  <a:srgbClr val="F3E7DA"/>
                </a:solidFill>
                <a:latin typeface="Malgun Gothic"/>
                <a:ea typeface="Malgun Gothic"/>
              </a:rPr>
              <a:t>아이디어는 감(感)에 의존하고 휘발된다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C9B6A4"/>
                </a:solidFill>
                <a:latin typeface="Malgun Gothic"/>
                <a:ea typeface="Malgun Gothic"/>
              </a:rPr>
              <a:t>→ 결국 필요한 건 </a:t>
            </a: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정리·토론·발굴을 대신 돌려주는 ‘운용 데스크’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37321"/>
                </a:solidFill>
                <a:latin typeface="Malgun Gothic"/>
                <a:ea typeface="Malgun Gothic"/>
              </a:rPr>
              <a:t>한화 ATLAS</a:t>
            </a:r>
            <a:r>
              <a:rPr sz="1100" b="0">
                <a:solidFill>
                  <a:srgbClr val="C9B6A4"/>
                </a:solidFill>
                <a:latin typeface="Malgun Gothic"/>
                <a:ea typeface="Malgun Gothic"/>
              </a:rPr>
              <a:t>  ·  AI Investment Desk 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3550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9B6A4"/>
                </a:solidFill>
                <a:latin typeface="Malgun Gothic"/>
                <a:ea typeface="Malgun Gothic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D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4008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37321"/>
                </a:solidFill>
                <a:latin typeface="Malgun Gothic"/>
                <a:ea typeface="Malgun Gothic"/>
              </a:rPr>
              <a:t>SOLUTION</a:t>
            </a:r>
            <a:r>
              <a:rPr sz="1500" b="1">
                <a:solidFill>
                  <a:srgbClr val="C9B6A4"/>
                </a:solidFill>
                <a:latin typeface="Malgun Gothic"/>
                <a:ea typeface="Malgun Gothic"/>
              </a:rPr>
              <a:t>   그래서 만들었습니다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200" b="1">
                <a:solidFill>
                  <a:srgbClr val="F3E7DA"/>
                </a:solidFill>
                <a:latin typeface="Malgun Gothic"/>
                <a:ea typeface="Malgun Gothic"/>
              </a:rPr>
              <a:t>한 화면에서 도는 </a:t>
            </a:r>
            <a:r>
              <a:rPr sz="4200" b="1">
                <a:solidFill>
                  <a:srgbClr val="F37321"/>
                </a:solidFill>
                <a:latin typeface="Malgun Gothic"/>
                <a:ea typeface="Malgun Gothic"/>
              </a:rPr>
              <a:t>AI 운용 데스크 OS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06040"/>
            <a:ext cx="5257800" cy="1691640"/>
          </a:xfrm>
          <a:prstGeom prst="rect">
            <a:avLst/>
          </a:prstGeom>
          <a:solidFill>
            <a:srgbClr val="1C120D"/>
          </a:solidFill>
          <a:ln w="12700">
            <a:solidFill>
              <a:srgbClr val="4A3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606040"/>
            <a:ext cx="82296" cy="169164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07208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FF9A52"/>
                </a:solidFill>
                <a:latin typeface="Malgun Gothic"/>
                <a:ea typeface="Malgun Gothic"/>
              </a:rPr>
              <a:t>01  시황 브리핑 에이전트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319272"/>
            <a:ext cx="4709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3E7DA"/>
                </a:solidFill>
                <a:latin typeface="Malgun Gothic"/>
                <a:ea typeface="Malgun Gothic"/>
              </a:rPr>
              <a:t>장전·장중·마감 3슬롯. 미국장→매크로→국내장 인과 내러티브 + 업종 로테이션 + KOSPI grounding. 전문가급 PNG 리포트 렌더 + 텔레그램 자동 발송 · 24h 캐싱.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2606040"/>
            <a:ext cx="5257800" cy="1691640"/>
          </a:xfrm>
          <a:prstGeom prst="rect">
            <a:avLst/>
          </a:prstGeom>
          <a:solidFill>
            <a:srgbClr val="1C120D"/>
          </a:solidFill>
          <a:ln w="12700">
            <a:solidFill>
              <a:srgbClr val="4A3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606040"/>
            <a:ext cx="82296" cy="169164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807208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FF9A52"/>
                </a:solidFill>
                <a:latin typeface="Malgun Gothic"/>
                <a:ea typeface="Malgun Gothic"/>
              </a:rPr>
              <a:t>02  AI 투자위원회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319272"/>
            <a:ext cx="4709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3E7DA"/>
                </a:solidFill>
                <a:latin typeface="Malgun Gothic"/>
                <a:ea typeface="Malgun Gothic"/>
              </a:rPr>
              <a:t>종목 입력 → 14개 AI 에이전트(기술·심리·뉴스·재무 → Bull/Bear 토론 → 3-way 리스크 심의 → 트레이더·의장 최종결정). 라이브피드 토론 + 9개 리포트 + BUY/SELL/HOLD.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480560"/>
            <a:ext cx="5257800" cy="1691640"/>
          </a:xfrm>
          <a:prstGeom prst="rect">
            <a:avLst/>
          </a:prstGeom>
          <a:solidFill>
            <a:srgbClr val="1C120D"/>
          </a:solidFill>
          <a:ln w="12700">
            <a:solidFill>
              <a:srgbClr val="4A3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480560"/>
            <a:ext cx="82296" cy="169164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681728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FF9A52"/>
                </a:solidFill>
                <a:latin typeface="Malgun Gothic"/>
                <a:ea typeface="Malgun Gothic"/>
              </a:rPr>
              <a:t>03  AI 아이디어랩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193792"/>
            <a:ext cx="4709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3E7DA"/>
                </a:solidFill>
                <a:latin typeface="Malgun Gothic"/>
                <a:ea typeface="Malgun Gothic"/>
              </a:rPr>
              <a:t>키워드(예: ‘반도체 제외 유망섹터’) → 뉴스플로우·거시·마켓무브로 지금 적합한 섹터를 동적 발굴하는 멀티에이전트 발굴위원회. 후보 종목 + 회의록.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4480560"/>
            <a:ext cx="5257800" cy="1691640"/>
          </a:xfrm>
          <a:prstGeom prst="rect">
            <a:avLst/>
          </a:prstGeom>
          <a:solidFill>
            <a:srgbClr val="1C120D"/>
          </a:solidFill>
          <a:ln w="12700">
            <a:solidFill>
              <a:srgbClr val="4A3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4480560"/>
            <a:ext cx="82296" cy="169164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681728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FF9A52"/>
                </a:solidFill>
                <a:latin typeface="Malgun Gothic"/>
                <a:ea typeface="Malgun Gothic"/>
              </a:rPr>
              <a:t>04  시장 대시보드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193792"/>
            <a:ext cx="4709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3E7DA"/>
                </a:solidFill>
                <a:latin typeface="Malgun Gothic"/>
                <a:ea typeface="Malgun Gothic"/>
              </a:rPr>
              <a:t>KOSPI 전종목 실시간 시세 · GICS 11개 대분류 시장 히트맵 · 섹터 등락 · 손익(mock).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9B6A4"/>
                </a:solidFill>
                <a:latin typeface="Malgun Gothic"/>
                <a:ea typeface="Malgun Gothic"/>
              </a:rPr>
              <a:t>LLM: MiMo 추론모델  ·  데이터: 네이버/yfinance 무키 소스  ·  결과 영구볼륨 24h 영속  ·  Railway 단일 서비스(백+프론트)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37321"/>
                </a:solidFill>
                <a:latin typeface="Malgun Gothic"/>
                <a:ea typeface="Malgun Gothic"/>
              </a:rPr>
              <a:t>한화 ATLAS</a:t>
            </a:r>
            <a:r>
              <a:rPr sz="1100" b="0">
                <a:solidFill>
                  <a:srgbClr val="C9B6A4"/>
                </a:solidFill>
                <a:latin typeface="Malgun Gothic"/>
                <a:ea typeface="Malgun Gothic"/>
              </a:rPr>
              <a:t>  ·  AI Investment Desk 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3550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9B6A4"/>
                </a:solidFill>
                <a:latin typeface="Malgun Gothic"/>
                <a:ea typeface="Malgun Gothic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2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37321"/>
                </a:solidFill>
                <a:latin typeface="Malgun Gothic"/>
                <a:ea typeface="Malgun Gothic"/>
              </a:rPr>
              <a:t>NOW,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14600"/>
            <a:ext cx="109728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5000" b="1">
                <a:solidFill>
                  <a:srgbClr val="F3E7DA"/>
                </a:solidFill>
                <a:latin typeface="Malgun Gothic"/>
                <a:ea typeface="Malgun Gothic"/>
              </a:rPr>
              <a:t>백 마디 설명보다,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5000" b="1">
                <a:solidFill>
                  <a:srgbClr val="F3E7DA"/>
                </a:solidFill>
                <a:latin typeface="Malgun Gothic"/>
                <a:ea typeface="Malgun Gothic"/>
              </a:rPr>
              <a:t>지금 </a:t>
            </a:r>
            <a:r>
              <a:rPr sz="5000" b="1">
                <a:solidFill>
                  <a:srgbClr val="F37321"/>
                </a:solidFill>
                <a:latin typeface="Malgun Gothic"/>
                <a:ea typeface="Malgun Gothic"/>
              </a:rPr>
              <a:t>직접 돌려서 보여드립니다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887" y="4617720"/>
            <a:ext cx="2542032" cy="868680"/>
          </a:xfrm>
          <a:prstGeom prst="rect">
            <a:avLst/>
          </a:prstGeom>
          <a:solidFill>
            <a:srgbClr val="4A3326"/>
          </a:solidFill>
          <a:ln w="12700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0615" y="4617720"/>
            <a:ext cx="232257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37321"/>
                </a:solidFill>
                <a:latin typeface="Malgun Gothic"/>
                <a:ea typeface="Malgun Gothic"/>
              </a:rPr>
              <a:t>1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3E7DA"/>
                </a:solidFill>
                <a:latin typeface="Malgun Gothic"/>
                <a:ea typeface="Malgun Gothic"/>
              </a:rPr>
              <a:t>시장 대시보드 히트맵</a:t>
            </a:r>
          </a:p>
        </p:txBody>
      </p:sp>
      <p:sp>
        <p:nvSpPr>
          <p:cNvPr id="8" name="Rectangle 7"/>
          <p:cNvSpPr/>
          <p:nvPr/>
        </p:nvSpPr>
        <p:spPr>
          <a:xfrm>
            <a:off x="3450183" y="4617720"/>
            <a:ext cx="2542032" cy="868680"/>
          </a:xfrm>
          <a:prstGeom prst="rect">
            <a:avLst/>
          </a:prstGeom>
          <a:solidFill>
            <a:srgbClr val="4A3326"/>
          </a:solidFill>
          <a:ln w="12700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9911" y="4617720"/>
            <a:ext cx="232257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37321"/>
                </a:solidFill>
                <a:latin typeface="Malgun Gothic"/>
                <a:ea typeface="Malgun Gothic"/>
              </a:rPr>
              <a:t>2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3E7DA"/>
                </a:solidFill>
                <a:latin typeface="Malgun Gothic"/>
                <a:ea typeface="Malgun Gothic"/>
              </a:rPr>
              <a:t>시황 에이전트 · 장전 생성 → PNG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479" y="4617720"/>
            <a:ext cx="2542032" cy="868680"/>
          </a:xfrm>
          <a:prstGeom prst="rect">
            <a:avLst/>
          </a:prstGeom>
          <a:solidFill>
            <a:srgbClr val="4A3326"/>
          </a:solidFill>
          <a:ln w="12700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207" y="4617720"/>
            <a:ext cx="232257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37321"/>
                </a:solidFill>
                <a:latin typeface="Malgun Gothic"/>
                <a:ea typeface="Malgun Gothic"/>
              </a:rPr>
              <a:t>3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3E7DA"/>
                </a:solidFill>
                <a:latin typeface="Malgun Gothic"/>
                <a:ea typeface="Malgun Gothic"/>
              </a:rPr>
              <a:t>AI 투자위원회 · 라이브 토론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48775" y="4617720"/>
            <a:ext cx="2542032" cy="868680"/>
          </a:xfrm>
          <a:prstGeom prst="rect">
            <a:avLst/>
          </a:prstGeom>
          <a:solidFill>
            <a:srgbClr val="4A3326"/>
          </a:solidFill>
          <a:ln w="12700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8503" y="4617720"/>
            <a:ext cx="232257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37321"/>
                </a:solidFill>
                <a:latin typeface="Malgun Gothic"/>
                <a:ea typeface="Malgun Gothic"/>
              </a:rPr>
              <a:t>4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3E7DA"/>
                </a:solidFill>
                <a:latin typeface="Malgun Gothic"/>
                <a:ea typeface="Malgun Gothic"/>
              </a:rPr>
              <a:t>아이디어랩 · 섹터 발굴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9B6A4"/>
                </a:solidFill>
                <a:latin typeface="Malgun Gothic"/>
                <a:ea typeface="Malgun Gothic"/>
              </a:rPr>
              <a:t>hanwha-atlas-production.up.railway.app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37321"/>
                </a:solidFill>
                <a:latin typeface="Malgun Gothic"/>
                <a:ea typeface="Malgun Gothic"/>
              </a:rPr>
              <a:t>한화 ATLAS</a:t>
            </a:r>
            <a:r>
              <a:rPr sz="1100" b="0">
                <a:solidFill>
                  <a:srgbClr val="C9B6A4"/>
                </a:solidFill>
                <a:latin typeface="Malgun Gothic"/>
                <a:ea typeface="Malgun Gothic"/>
              </a:rPr>
              <a:t>  ·  AI Investment Desk 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3550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9B6A4"/>
                </a:solidFill>
                <a:latin typeface="Malgun Gothic"/>
                <a:ea typeface="Malgun Gothic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